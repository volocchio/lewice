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84E"/>
                </a:solidFill>
                <a:latin typeface="Calibri"/>
              </a:defRPr>
            </a:pPr>
            <a:r>
              <a:t>LEWICE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Ice Accretion Analysis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108960"/>
            <a:ext cx="3657600" cy="381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8E8"/>
                </a:solidFill>
                <a:latin typeface="Calibri"/>
              </a:defRPr>
            </a:pPr>
            <a:r>
              <a:t>Aircraft Icing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Airfoil: NACA 0012  |  Chord: 0.914 m (36.00 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Date: April 21,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Reference: 14 CFR Part 25 Appendix C  |  NASA LEWICE 3.2  |  LEWICE Studio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371600"/>
            <a:ext cx="2286000" cy="10972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RISK: 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  <a:latin typeface="Calibri"/>
              </a:defRPr>
            </a:pPr>
            <a:r>
              <a:t>LEWICE Studio  |  Aircraft Icing Analysis  |  April 21,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Icing Conditions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5943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3716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A2E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C8A8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A2E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C8A8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A2E"/>
                          </a:solidFill>
                          <a:latin typeface="Calibri"/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C8A84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Freestream Velocity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175.0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KTAS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Altitude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10000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ft MSL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Static Temperature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-10.0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deg C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Liquid Water Content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0.54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g/m^3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Median Volume Diameter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20.0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microns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Exposure Time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Angle of Attack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deg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Chord Length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0.9144 / 36.00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 / in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Ice Type (Predicted)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Mixed/Rime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0B1A2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0" y="1005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84E"/>
                </a:solidFill>
                <a:latin typeface="Calibri"/>
              </a:defRPr>
            </a:pPr>
            <a:r>
              <a:t>Condition Dashboard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280160"/>
            <a:ext cx="448056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84E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5212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Max Ice Thickness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4132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84E"/>
                </a:solidFill>
                <a:latin typeface="Calibri"/>
              </a:defRPr>
            </a:pPr>
            <a:r>
              <a:t>4.6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7424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Ice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9436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84E"/>
                </a:solidFill>
                <a:latin typeface="Calibri"/>
              </a:defRPr>
            </a:pPr>
            <a:r>
              <a:t>Mixed/Rime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62727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Risk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64739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84E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  <a:latin typeface="Calibri"/>
              </a:defRPr>
            </a:pPr>
            <a:r>
              <a:t>LEWICE Studio  |  Aircraft Icing Analysis  |  April 21, 2026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Ice Shape — Full Airfoil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  <a:latin typeface="Calibri"/>
              </a:defRPr>
            </a:pPr>
            <a:r>
              <a:t>LEWICE Studio  |  Aircraft Icing Analysis  |  April 21, 2026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Ice Shape — Leading Edge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  <a:latin typeface="Calibri"/>
              </a:defRPr>
            </a:pPr>
            <a:r>
              <a:t>LEWICE Studio  |  Aircraft Icing Analysis  |  April 21, 2026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Impingement Limits &amp; Ice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Impingement data not available for this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A84E"/>
                </a:solidFill>
                <a:latin typeface="Calibri"/>
              </a:defRPr>
            </a:pPr>
            <a:r>
              <a:t>Accretion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Maximum ice thickness:  4.6 mm  (0.183 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Ice type classification:  Mixed/Rime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5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Risk assessment:  LOW — Thin accretion, minimal aerodynamic impact expected.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Icing exposure:  6.0 min at 0.54 g/m3 LWC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Clean airfoil points:  159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Iced airfoil points:  119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  <a:latin typeface="Calibri"/>
              </a:defRPr>
            </a:pPr>
            <a:r>
              <a:t>LEWICE Studio  |  Aircraft Icing Analysis  |  April 21, 2026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Risk Assessment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1371600"/>
            <a:ext cx="1097280" cy="1097280"/>
          </a:xfrm>
          <a:prstGeom prst="ellipse">
            <a:avLst/>
          </a:prstGeom>
          <a:solidFill>
            <a:srgbClr val="28A745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A745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6" name="Oval 5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2A2A2A"/>
          </a:solidFill>
          <a:ln w="25400">
            <a:solidFill>
              <a:srgbClr val="E0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0A80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1371600"/>
            <a:ext cx="1097280" cy="1097280"/>
          </a:xfrm>
          <a:prstGeom prst="ellipse">
            <a:avLst/>
          </a:prstGeom>
          <a:solidFill>
            <a:srgbClr val="2A2A2A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C3545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A745"/>
                </a:solidFill>
                <a:latin typeface="Calibri"/>
              </a:defRPr>
            </a:pPr>
            <a:r>
              <a:t>Assessment: 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Thin accretion, minimal aerodynamic impact expected.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A84E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+  Ice accretion is within acceptable limits for continued flight operations.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6635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+  Standard ice protection system activation procedures are sufficient.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+  No additional aerodynamic penalty analysis required for this condition.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+  Document results for certification file.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  <a:latin typeface="Calibri"/>
              </a:defRPr>
            </a:pPr>
            <a:r>
              <a:t>LEWICE Studio  |  Aircraft Icing Analysis  |  April 21,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